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942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73321" y="640080"/>
            <a:ext cx="4688333" cy="3566160"/>
          </a:xfrm>
        </p:spPr>
        <p:txBody>
          <a:bodyPr anchor="b">
            <a:normAutofit/>
          </a:bodyPr>
          <a:lstStyle/>
          <a:p>
            <a:pPr algn="l"/>
            <a:r>
              <a:rPr lang="en-IN" sz="4700"/>
              <a:t>Vendor Performance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73320" y="4636008"/>
            <a:ext cx="4688333" cy="1572768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700"/>
              <a:t>Comprehensive Project Report</a:t>
            </a:r>
          </a:p>
          <a:p>
            <a:pPr algn="l">
              <a:lnSpc>
                <a:spcPct val="90000"/>
              </a:lnSpc>
            </a:pPr>
            <a:r>
              <a:rPr lang="en-US" sz="2700"/>
              <a:t>Domain Knowledge, EDA, and ETL Solutions</a:t>
            </a:r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F14DBC9C-00FE-1CE9-9BA2-0C63BE9F28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441" r="39561" b="-1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646" y="4409267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04711 w 3182692"/>
              <a:gd name="csY1" fmla="*/ 0 h 18288"/>
              <a:gd name="csX2" fmla="*/ 1241250 w 3182692"/>
              <a:gd name="csY2" fmla="*/ 0 h 18288"/>
              <a:gd name="csX3" fmla="*/ 1909615 w 3182692"/>
              <a:gd name="csY3" fmla="*/ 0 h 18288"/>
              <a:gd name="csX4" fmla="*/ 2577981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482500 w 3182692"/>
              <a:gd name="csY7" fmla="*/ 18288 h 18288"/>
              <a:gd name="csX8" fmla="*/ 1782308 w 3182692"/>
              <a:gd name="csY8" fmla="*/ 18288 h 18288"/>
              <a:gd name="csX9" fmla="*/ 1145769 w 3182692"/>
              <a:gd name="csY9" fmla="*/ 18288 h 18288"/>
              <a:gd name="csX10" fmla="*/ 0 w 3182692"/>
              <a:gd name="csY10" fmla="*/ 18288 h 18288"/>
              <a:gd name="csX11" fmla="*/ 0 w 3182692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27FF362-FC97-4BF5-949B-D4ADFA26E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888549">
            <a:off x="-794604" y="-1108988"/>
            <a:ext cx="5384871" cy="5226565"/>
          </a:xfrm>
          <a:custGeom>
            <a:avLst/>
            <a:gdLst>
              <a:gd name="connsiteX0" fmla="*/ 5217841 w 7179830"/>
              <a:gd name="connsiteY0" fmla="*/ 464824 h 5226565"/>
              <a:gd name="connsiteX1" fmla="*/ 5222490 w 7179830"/>
              <a:gd name="connsiteY1" fmla="*/ 464289 h 5226565"/>
              <a:gd name="connsiteX2" fmla="*/ 5216768 w 7179830"/>
              <a:gd name="connsiteY2" fmla="*/ 463394 h 5226565"/>
              <a:gd name="connsiteX3" fmla="*/ 5217841 w 7179830"/>
              <a:gd name="connsiteY3" fmla="*/ 464824 h 5226565"/>
              <a:gd name="connsiteX4" fmla="*/ 4945201 w 7179830"/>
              <a:gd name="connsiteY4" fmla="*/ 5226565 h 5226565"/>
              <a:gd name="connsiteX5" fmla="*/ 140449 w 7179830"/>
              <a:gd name="connsiteY5" fmla="*/ 2240811 h 5226565"/>
              <a:gd name="connsiteX6" fmla="*/ 232913 w 7179830"/>
              <a:gd name="connsiteY6" fmla="*/ 2052782 h 5226565"/>
              <a:gd name="connsiteX7" fmla="*/ 375714 w 7179830"/>
              <a:gd name="connsiteY7" fmla="*/ 1803205 h 5226565"/>
              <a:gd name="connsiteX8" fmla="*/ 1512756 w 7179830"/>
              <a:gd name="connsiteY8" fmla="*/ 638448 h 5226565"/>
              <a:gd name="connsiteX9" fmla="*/ 2902095 w 7179830"/>
              <a:gd name="connsiteY9" fmla="*/ 120440 h 5226565"/>
              <a:gd name="connsiteX10" fmla="*/ 2848453 w 7179830"/>
              <a:gd name="connsiteY10" fmla="*/ 125626 h 5226565"/>
              <a:gd name="connsiteX11" fmla="*/ 1837830 w 7179830"/>
              <a:gd name="connsiteY11" fmla="*/ 426203 h 5226565"/>
              <a:gd name="connsiteX12" fmla="*/ 214608 w 7179830"/>
              <a:gd name="connsiteY12" fmla="*/ 1882239 h 5226565"/>
              <a:gd name="connsiteX13" fmla="*/ 91317 w 7179830"/>
              <a:gd name="connsiteY13" fmla="*/ 2123701 h 5226565"/>
              <a:gd name="connsiteX14" fmla="*/ 64092 w 7179830"/>
              <a:gd name="connsiteY14" fmla="*/ 2193361 h 5226565"/>
              <a:gd name="connsiteX15" fmla="*/ 0 w 7179830"/>
              <a:gd name="connsiteY15" fmla="*/ 2153533 h 5226565"/>
              <a:gd name="connsiteX16" fmla="*/ 42834 w 7179830"/>
              <a:gd name="connsiteY16" fmla="*/ 2047277 h 5226565"/>
              <a:gd name="connsiteX17" fmla="*/ 923582 w 7179830"/>
              <a:gd name="connsiteY17" fmla="*/ 915600 h 5226565"/>
              <a:gd name="connsiteX18" fmla="*/ 2686989 w 7179830"/>
              <a:gd name="connsiteY18" fmla="*/ 73950 h 5226565"/>
              <a:gd name="connsiteX19" fmla="*/ 3059983 w 7179830"/>
              <a:gd name="connsiteY19" fmla="*/ 20308 h 5226565"/>
              <a:gd name="connsiteX20" fmla="*/ 3454435 w 7179830"/>
              <a:gd name="connsiteY20" fmla="*/ 1176 h 5226565"/>
              <a:gd name="connsiteX21" fmla="*/ 3923806 w 7179830"/>
              <a:gd name="connsiteY21" fmla="*/ 49990 h 5226565"/>
              <a:gd name="connsiteX22" fmla="*/ 5350874 w 7179830"/>
              <a:gd name="connsiteY22" fmla="*/ 426917 h 5226565"/>
              <a:gd name="connsiteX23" fmla="*/ 6607360 w 7179830"/>
              <a:gd name="connsiteY23" fmla="*/ 1075097 h 5226565"/>
              <a:gd name="connsiteX24" fmla="*/ 7110534 w 7179830"/>
              <a:gd name="connsiteY24" fmla="*/ 1541421 h 5226565"/>
              <a:gd name="connsiteX25" fmla="*/ 7179830 w 7179830"/>
              <a:gd name="connsiteY25" fmla="*/ 1630542 h 5226565"/>
              <a:gd name="connsiteX26" fmla="*/ 7136295 w 7179830"/>
              <a:gd name="connsiteY26" fmla="*/ 1700600 h 5226565"/>
              <a:gd name="connsiteX27" fmla="*/ 7131140 w 7179830"/>
              <a:gd name="connsiteY27" fmla="*/ 1693045 h 5226565"/>
              <a:gd name="connsiteX28" fmla="*/ 6577499 w 7179830"/>
              <a:gd name="connsiteY28" fmla="*/ 1148230 h 5226565"/>
              <a:gd name="connsiteX29" fmla="*/ 5494816 w 7179830"/>
              <a:gd name="connsiteY29" fmla="*/ 563527 h 5226565"/>
              <a:gd name="connsiteX30" fmla="*/ 5366967 w 7179830"/>
              <a:gd name="connsiteY30" fmla="*/ 514176 h 5226565"/>
              <a:gd name="connsiteX31" fmla="*/ 5244661 w 7179830"/>
              <a:gd name="connsiteY31" fmla="*/ 470725 h 5226565"/>
              <a:gd name="connsiteX32" fmla="*/ 5904822 w 7179830"/>
              <a:gd name="connsiteY32" fmla="*/ 815468 h 5226565"/>
              <a:gd name="connsiteX33" fmla="*/ 7015222 w 7179830"/>
              <a:gd name="connsiteY33" fmla="*/ 1815185 h 5226565"/>
              <a:gd name="connsiteX34" fmla="*/ 7040454 w 7179830"/>
              <a:gd name="connsiteY34" fmla="*/ 1854830 h 5226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7179830" h="5226565">
                <a:moveTo>
                  <a:pt x="5217841" y="464824"/>
                </a:moveTo>
                <a:lnTo>
                  <a:pt x="5222490" y="464289"/>
                </a:lnTo>
                <a:lnTo>
                  <a:pt x="5216768" y="463394"/>
                </a:lnTo>
                <a:cubicBezTo>
                  <a:pt x="5216768" y="463394"/>
                  <a:pt x="5216768" y="464646"/>
                  <a:pt x="5217841" y="464824"/>
                </a:cubicBezTo>
                <a:close/>
                <a:moveTo>
                  <a:pt x="4945201" y="5226565"/>
                </a:moveTo>
                <a:lnTo>
                  <a:pt x="140449" y="2240811"/>
                </a:lnTo>
                <a:lnTo>
                  <a:pt x="232913" y="2052782"/>
                </a:lnTo>
                <a:cubicBezTo>
                  <a:pt x="277693" y="1968290"/>
                  <a:pt x="325201" y="1885054"/>
                  <a:pt x="375714" y="1803205"/>
                </a:cubicBezTo>
                <a:cubicBezTo>
                  <a:pt x="667528" y="1329721"/>
                  <a:pt x="1039629" y="935091"/>
                  <a:pt x="1512756" y="638448"/>
                </a:cubicBezTo>
                <a:cubicBezTo>
                  <a:pt x="1939392" y="370950"/>
                  <a:pt x="2405724" y="210560"/>
                  <a:pt x="2902095" y="120440"/>
                </a:cubicBezTo>
                <a:cubicBezTo>
                  <a:pt x="2884054" y="118134"/>
                  <a:pt x="2865727" y="119904"/>
                  <a:pt x="2848453" y="125626"/>
                </a:cubicBezTo>
                <a:cubicBezTo>
                  <a:pt x="2498704" y="175943"/>
                  <a:pt x="2158217" y="277201"/>
                  <a:pt x="1837830" y="426203"/>
                </a:cubicBezTo>
                <a:cubicBezTo>
                  <a:pt x="1147094" y="744660"/>
                  <a:pt x="593502" y="1217071"/>
                  <a:pt x="214608" y="1882239"/>
                </a:cubicBezTo>
                <a:cubicBezTo>
                  <a:pt x="169441" y="1960776"/>
                  <a:pt x="128308" y="2041369"/>
                  <a:pt x="91317" y="2123701"/>
                </a:cubicBezTo>
                <a:lnTo>
                  <a:pt x="64092" y="2193361"/>
                </a:lnTo>
                <a:lnTo>
                  <a:pt x="0" y="2153533"/>
                </a:lnTo>
                <a:lnTo>
                  <a:pt x="42834" y="2047277"/>
                </a:lnTo>
                <a:cubicBezTo>
                  <a:pt x="241792" y="1615775"/>
                  <a:pt x="541268" y="1241591"/>
                  <a:pt x="923582" y="915600"/>
                </a:cubicBezTo>
                <a:cubicBezTo>
                  <a:pt x="1435331" y="478415"/>
                  <a:pt x="2028081" y="205375"/>
                  <a:pt x="2686989" y="73950"/>
                </a:cubicBezTo>
                <a:cubicBezTo>
                  <a:pt x="2810367" y="49274"/>
                  <a:pt x="2934818" y="32466"/>
                  <a:pt x="3059983" y="20308"/>
                </a:cubicBezTo>
                <a:cubicBezTo>
                  <a:pt x="3185149" y="8148"/>
                  <a:pt x="3308706" y="2963"/>
                  <a:pt x="3454435" y="1176"/>
                </a:cubicBezTo>
                <a:cubicBezTo>
                  <a:pt x="3599805" y="-5977"/>
                  <a:pt x="3761985" y="20665"/>
                  <a:pt x="3923806" y="49990"/>
                </a:cubicBezTo>
                <a:cubicBezTo>
                  <a:pt x="4409449" y="137964"/>
                  <a:pt x="4886867" y="257228"/>
                  <a:pt x="5350874" y="426917"/>
                </a:cubicBezTo>
                <a:cubicBezTo>
                  <a:pt x="5797001" y="589991"/>
                  <a:pt x="6223101" y="792223"/>
                  <a:pt x="6607360" y="1075097"/>
                </a:cubicBezTo>
                <a:cubicBezTo>
                  <a:pt x="6794438" y="1212779"/>
                  <a:pt x="6965102" y="1365689"/>
                  <a:pt x="7110534" y="1541421"/>
                </a:cubicBezTo>
                <a:lnTo>
                  <a:pt x="7179830" y="1630542"/>
                </a:lnTo>
                <a:lnTo>
                  <a:pt x="7136295" y="1700600"/>
                </a:lnTo>
                <a:lnTo>
                  <a:pt x="7131140" y="1693045"/>
                </a:lnTo>
                <a:cubicBezTo>
                  <a:pt x="6977874" y="1483026"/>
                  <a:pt x="6788448" y="1305671"/>
                  <a:pt x="6577499" y="1148230"/>
                </a:cubicBezTo>
                <a:cubicBezTo>
                  <a:pt x="6245452" y="900401"/>
                  <a:pt x="5878538" y="716408"/>
                  <a:pt x="5494816" y="563527"/>
                </a:cubicBezTo>
                <a:cubicBezTo>
                  <a:pt x="5452491" y="546487"/>
                  <a:pt x="5409881" y="530036"/>
                  <a:pt x="5366967" y="514176"/>
                </a:cubicBezTo>
                <a:cubicBezTo>
                  <a:pt x="5326377" y="499156"/>
                  <a:pt x="5285430" y="485210"/>
                  <a:pt x="5244661" y="470725"/>
                </a:cubicBezTo>
                <a:cubicBezTo>
                  <a:pt x="5471517" y="572127"/>
                  <a:pt x="5691970" y="687263"/>
                  <a:pt x="5904822" y="815468"/>
                </a:cubicBezTo>
                <a:cubicBezTo>
                  <a:pt x="6336645" y="1080104"/>
                  <a:pt x="6718758" y="1400351"/>
                  <a:pt x="7015222" y="1815185"/>
                </a:cubicBezTo>
                <a:lnTo>
                  <a:pt x="7040454" y="185483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4" y="673770"/>
            <a:ext cx="2733367" cy="2414488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4000">
                <a:solidFill>
                  <a:srgbClr val="FFFFFF"/>
                </a:solidFill>
              </a:rPr>
              <a:t>Output: Power BI Dashboards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9" y="882315"/>
            <a:ext cx="3941065" cy="5294647"/>
          </a:xfrm>
        </p:spPr>
        <p:txBody>
          <a:bodyPr>
            <a:normAutofit/>
          </a:bodyPr>
          <a:lstStyle/>
          <a:p>
            <a:r>
              <a:rPr lang="en-US" sz="1900"/>
              <a:t>Domain Focus: Retail/Wholesale Beverage &amp; Liquor Sales</a:t>
            </a:r>
          </a:p>
          <a:p>
            <a:pPr lvl="1"/>
            <a:r>
              <a:rPr lang="en-US" sz="1900"/>
              <a:t>Objective: Analyze vendor performance to identify profitable partnerships and optimize stock.</a:t>
            </a:r>
          </a:p>
          <a:p>
            <a:pPr lvl="1"/>
            <a:r>
              <a:rPr lang="en-US" sz="1900"/>
              <a:t>Key Data Sources: Purchases, Sales, Inventory levels, and Freight invoices.</a:t>
            </a:r>
          </a:p>
          <a:p>
            <a:pPr lvl="1"/>
            <a:r>
              <a:rPr lang="en-US" sz="1900"/>
              <a:t>Goal: Consolidate data to rank vendors, negotiate better terms, and optimize purchasing strategies.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3321" y="329184"/>
            <a:ext cx="4688333" cy="1783080"/>
          </a:xfrm>
        </p:spPr>
        <p:txBody>
          <a:bodyPr anchor="b">
            <a:normAutofit/>
          </a:bodyPr>
          <a:lstStyle/>
          <a:p>
            <a:endParaRPr lang="en-IN" sz="4700"/>
          </a:p>
        </p:txBody>
      </p:sp>
      <p:pic>
        <p:nvPicPr>
          <p:cNvPr id="5" name="Picture 4" descr="Calculator, pen, compass, money and a paper with graphs printed on it">
            <a:extLst>
              <a:ext uri="{FF2B5EF4-FFF2-40B4-BE49-F238E27FC236}">
                <a16:creationId xmlns:a16="http://schemas.microsoft.com/office/drawing/2014/main" id="{EC54D307-F7B6-FED7-A8AA-9DF702CAEA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768" r="32545" b="-1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3321" y="2374947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36538 w 3182692"/>
              <a:gd name="csY1" fmla="*/ 0 h 18288"/>
              <a:gd name="csX2" fmla="*/ 1273077 w 3182692"/>
              <a:gd name="csY2" fmla="*/ 0 h 18288"/>
              <a:gd name="csX3" fmla="*/ 1909615 w 3182692"/>
              <a:gd name="csY3" fmla="*/ 0 h 18288"/>
              <a:gd name="csX4" fmla="*/ 2482500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609807 w 3182692"/>
              <a:gd name="csY7" fmla="*/ 18288 h 18288"/>
              <a:gd name="csX8" fmla="*/ 2068750 w 3182692"/>
              <a:gd name="csY8" fmla="*/ 18288 h 18288"/>
              <a:gd name="csX9" fmla="*/ 1432211 w 3182692"/>
              <a:gd name="csY9" fmla="*/ 18288 h 18288"/>
              <a:gd name="csX10" fmla="*/ 859327 w 3182692"/>
              <a:gd name="csY10" fmla="*/ 18288 h 18288"/>
              <a:gd name="csX11" fmla="*/ 0 w 3182692"/>
              <a:gd name="csY11" fmla="*/ 18288 h 18288"/>
              <a:gd name="csX12" fmla="*/ 0 w 3182692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07727" y="-28"/>
                  <a:pt x="1273077" y="0"/>
                </a:cubicBezTo>
                <a:cubicBezTo>
                  <a:pt x="1538427" y="28"/>
                  <a:pt x="1698640" y="-12775"/>
                  <a:pt x="1909615" y="0"/>
                </a:cubicBezTo>
                <a:cubicBezTo>
                  <a:pt x="2120590" y="12775"/>
                  <a:pt x="2210293" y="-21823"/>
                  <a:pt x="2482500" y="0"/>
                </a:cubicBezTo>
                <a:cubicBezTo>
                  <a:pt x="2754708" y="21823"/>
                  <a:pt x="3004133" y="-28750"/>
                  <a:pt x="3182692" y="0"/>
                </a:cubicBezTo>
                <a:cubicBezTo>
                  <a:pt x="3183134" y="4516"/>
                  <a:pt x="3181865" y="12266"/>
                  <a:pt x="3182692" y="18288"/>
                </a:cubicBezTo>
                <a:cubicBezTo>
                  <a:pt x="2947402" y="22440"/>
                  <a:pt x="2876226" y="27191"/>
                  <a:pt x="2609807" y="18288"/>
                </a:cubicBezTo>
                <a:cubicBezTo>
                  <a:pt x="2343389" y="9385"/>
                  <a:pt x="2326689" y="25579"/>
                  <a:pt x="2068750" y="18288"/>
                </a:cubicBezTo>
                <a:cubicBezTo>
                  <a:pt x="1810811" y="10997"/>
                  <a:pt x="1713836" y="48219"/>
                  <a:pt x="1432211" y="18288"/>
                </a:cubicBezTo>
                <a:cubicBezTo>
                  <a:pt x="1150586" y="-11643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43108" y="-22426"/>
                  <a:pt x="387854" y="22949"/>
                  <a:pt x="572885" y="0"/>
                </a:cubicBezTo>
                <a:cubicBezTo>
                  <a:pt x="757916" y="-22949"/>
                  <a:pt x="923707" y="6797"/>
                  <a:pt x="1113942" y="0"/>
                </a:cubicBezTo>
                <a:cubicBezTo>
                  <a:pt x="1304177" y="-6797"/>
                  <a:pt x="1495991" y="20627"/>
                  <a:pt x="1686827" y="0"/>
                </a:cubicBezTo>
                <a:cubicBezTo>
                  <a:pt x="1877663" y="-20627"/>
                  <a:pt x="2170182" y="-20672"/>
                  <a:pt x="2323365" y="0"/>
                </a:cubicBezTo>
                <a:cubicBezTo>
                  <a:pt x="2476548" y="20672"/>
                  <a:pt x="2919164" y="6097"/>
                  <a:pt x="3182692" y="0"/>
                </a:cubicBezTo>
                <a:cubicBezTo>
                  <a:pt x="3183269" y="4624"/>
                  <a:pt x="3183511" y="11191"/>
                  <a:pt x="3182692" y="18288"/>
                </a:cubicBezTo>
                <a:cubicBezTo>
                  <a:pt x="3026065" y="-10849"/>
                  <a:pt x="2775006" y="23067"/>
                  <a:pt x="2546154" y="18288"/>
                </a:cubicBezTo>
                <a:cubicBezTo>
                  <a:pt x="2317302" y="13509"/>
                  <a:pt x="2168173" y="-8513"/>
                  <a:pt x="1845961" y="18288"/>
                </a:cubicBezTo>
                <a:cubicBezTo>
                  <a:pt x="1523749" y="45089"/>
                  <a:pt x="1450078" y="-844"/>
                  <a:pt x="1304904" y="18288"/>
                </a:cubicBezTo>
                <a:cubicBezTo>
                  <a:pt x="1159730" y="37420"/>
                  <a:pt x="942635" y="-10021"/>
                  <a:pt x="604711" y="18288"/>
                </a:cubicBezTo>
                <a:cubicBezTo>
                  <a:pt x="266787" y="46597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3321" y="2706624"/>
            <a:ext cx="4688333" cy="3483864"/>
          </a:xfrm>
        </p:spPr>
        <p:txBody>
          <a:bodyPr>
            <a:normAutofit/>
          </a:bodyPr>
          <a:lstStyle/>
          <a:p>
            <a:r>
              <a:rPr lang="en-US" sz="1800"/>
              <a:t>Key Metrics Calculated:</a:t>
            </a:r>
          </a:p>
          <a:p>
            <a:pPr lvl="1"/>
            <a:r>
              <a:rPr lang="en-US" sz="1800"/>
              <a:t>Gross Profit: Total Sales Dollars - Total Purchase Dollars</a:t>
            </a:r>
          </a:p>
          <a:p>
            <a:pPr lvl="1"/>
            <a:r>
              <a:rPr lang="en-US" sz="1800"/>
              <a:t>Profit Margin: (Gross Profit / Total Sales Dollars) * 100</a:t>
            </a:r>
          </a:p>
          <a:p>
            <a:pPr lvl="1"/>
            <a:r>
              <a:rPr lang="en-US" sz="1800"/>
              <a:t>Stock Turnover Ratio: Total Sales Qty / Total Purchase Qty (measures efficiency)</a:t>
            </a:r>
          </a:p>
          <a:p>
            <a:pPr lvl="1"/>
            <a:r>
              <a:rPr lang="en-US" sz="1800"/>
              <a:t>Sales-to-Purchase Ratio: Return leverage vs vendor expenditure</a:t>
            </a:r>
          </a:p>
          <a:p>
            <a:pPr lvl="1"/>
            <a:r>
              <a:rPr lang="en-US" sz="1800"/>
              <a:t>Excise Tax &amp; Freight Costs: Critical overheads factored into margins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0722" y="329184"/>
            <a:ext cx="5170932" cy="1783080"/>
          </a:xfrm>
        </p:spPr>
        <p:txBody>
          <a:bodyPr anchor="b">
            <a:normAutofit/>
          </a:bodyPr>
          <a:lstStyle/>
          <a:p>
            <a:endParaRPr lang="en-IN" sz="4700"/>
          </a:p>
        </p:txBody>
      </p:sp>
      <p:pic>
        <p:nvPicPr>
          <p:cNvPr id="5" name="Picture 4" descr="Graph">
            <a:extLst>
              <a:ext uri="{FF2B5EF4-FFF2-40B4-BE49-F238E27FC236}">
                <a16:creationId xmlns:a16="http://schemas.microsoft.com/office/drawing/2014/main" id="{1E947E5D-F712-9024-A171-94650172FC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517" r="41783"/>
          <a:stretch>
            <a:fillRect/>
          </a:stretch>
        </p:blipFill>
        <p:spPr>
          <a:xfrm>
            <a:off x="20" y="1"/>
            <a:ext cx="3039386" cy="6858000"/>
          </a:xfrm>
          <a:custGeom>
            <a:avLst/>
            <a:gdLst/>
            <a:ahLst/>
            <a:cxnLst/>
            <a:rect l="l" t="t" r="r" b="b"/>
            <a:pathLst>
              <a:path w="4052542" h="6858000">
                <a:moveTo>
                  <a:pt x="0" y="0"/>
                </a:moveTo>
                <a:lnTo>
                  <a:pt x="4020923" y="0"/>
                </a:lnTo>
                <a:lnTo>
                  <a:pt x="4022656" y="14697"/>
                </a:lnTo>
                <a:cubicBezTo>
                  <a:pt x="4037606" y="98462"/>
                  <a:pt x="4035072" y="183369"/>
                  <a:pt x="4039126" y="267642"/>
                </a:cubicBezTo>
                <a:cubicBezTo>
                  <a:pt x="4043941" y="370699"/>
                  <a:pt x="4037860" y="474136"/>
                  <a:pt x="4035579" y="577446"/>
                </a:cubicBezTo>
                <a:cubicBezTo>
                  <a:pt x="4033805" y="665399"/>
                  <a:pt x="4025063" y="753226"/>
                  <a:pt x="4027724" y="841306"/>
                </a:cubicBezTo>
                <a:cubicBezTo>
                  <a:pt x="4027914" y="844352"/>
                  <a:pt x="4027914" y="847398"/>
                  <a:pt x="4027724" y="850444"/>
                </a:cubicBezTo>
                <a:cubicBezTo>
                  <a:pt x="4019615" y="947281"/>
                  <a:pt x="4019615" y="1044626"/>
                  <a:pt x="4027724" y="1141464"/>
                </a:cubicBezTo>
                <a:cubicBezTo>
                  <a:pt x="4030296" y="1181772"/>
                  <a:pt x="4029574" y="1222221"/>
                  <a:pt x="4025570" y="1262415"/>
                </a:cubicBezTo>
                <a:cubicBezTo>
                  <a:pt x="4021769" y="1313563"/>
                  <a:pt x="4009606" y="1365472"/>
                  <a:pt x="4018348" y="1416238"/>
                </a:cubicBezTo>
                <a:cubicBezTo>
                  <a:pt x="4024037" y="1458058"/>
                  <a:pt x="4027166" y="1500194"/>
                  <a:pt x="4027724" y="1542394"/>
                </a:cubicBezTo>
                <a:cubicBezTo>
                  <a:pt x="4032158" y="1636820"/>
                  <a:pt x="4027977" y="1731753"/>
                  <a:pt x="4026330" y="1826433"/>
                </a:cubicBezTo>
                <a:cubicBezTo>
                  <a:pt x="4024556" y="1936724"/>
                  <a:pt x="4027344" y="2047015"/>
                  <a:pt x="4018475" y="2157432"/>
                </a:cubicBezTo>
                <a:cubicBezTo>
                  <a:pt x="4013597" y="2246629"/>
                  <a:pt x="4013597" y="2336029"/>
                  <a:pt x="4018475" y="2425226"/>
                </a:cubicBezTo>
                <a:cubicBezTo>
                  <a:pt x="4020882" y="2506961"/>
                  <a:pt x="4033172" y="2587934"/>
                  <a:pt x="4031145" y="2670557"/>
                </a:cubicBezTo>
                <a:cubicBezTo>
                  <a:pt x="4028737" y="2766886"/>
                  <a:pt x="4017335" y="2862962"/>
                  <a:pt x="4020882" y="2959546"/>
                </a:cubicBezTo>
                <a:cubicBezTo>
                  <a:pt x="4022529" y="3005617"/>
                  <a:pt x="4022656" y="3051688"/>
                  <a:pt x="4023543" y="3097758"/>
                </a:cubicBezTo>
                <a:cubicBezTo>
                  <a:pt x="4024683" y="3153221"/>
                  <a:pt x="4034692" y="3208556"/>
                  <a:pt x="4029117" y="3263892"/>
                </a:cubicBezTo>
                <a:cubicBezTo>
                  <a:pt x="4019869" y="3356161"/>
                  <a:pt x="3995923" y="3446906"/>
                  <a:pt x="4010873" y="3541459"/>
                </a:cubicBezTo>
                <a:cubicBezTo>
                  <a:pt x="4019108" y="3593495"/>
                  <a:pt x="4028357" y="3645658"/>
                  <a:pt x="4033172" y="3698201"/>
                </a:cubicBezTo>
                <a:cubicBezTo>
                  <a:pt x="4037353" y="3745160"/>
                  <a:pt x="4047868" y="3792881"/>
                  <a:pt x="4039886" y="3839586"/>
                </a:cubicBezTo>
                <a:cubicBezTo>
                  <a:pt x="4033045" y="3879565"/>
                  <a:pt x="4036592" y="3919544"/>
                  <a:pt x="4031271" y="3959523"/>
                </a:cubicBezTo>
                <a:cubicBezTo>
                  <a:pt x="4024303" y="4011939"/>
                  <a:pt x="4020629" y="4065244"/>
                  <a:pt x="4015308" y="4118042"/>
                </a:cubicBezTo>
                <a:cubicBezTo>
                  <a:pt x="4010620" y="4165889"/>
                  <a:pt x="4006946" y="4213610"/>
                  <a:pt x="4019615" y="4258539"/>
                </a:cubicBezTo>
                <a:cubicBezTo>
                  <a:pt x="4050656" y="4371622"/>
                  <a:pt x="4033679" y="4484070"/>
                  <a:pt x="4022023" y="4596391"/>
                </a:cubicBezTo>
                <a:cubicBezTo>
                  <a:pt x="4016321" y="4650965"/>
                  <a:pt x="4007959" y="4708712"/>
                  <a:pt x="4020629" y="4758718"/>
                </a:cubicBezTo>
                <a:cubicBezTo>
                  <a:pt x="4043941" y="4847432"/>
                  <a:pt x="4025697" y="4931705"/>
                  <a:pt x="4015561" y="5016866"/>
                </a:cubicBezTo>
                <a:cubicBezTo>
                  <a:pt x="4003335" y="5100174"/>
                  <a:pt x="4005096" y="5184929"/>
                  <a:pt x="4020756" y="5267654"/>
                </a:cubicBezTo>
                <a:cubicBezTo>
                  <a:pt x="4033172" y="5326035"/>
                  <a:pt x="4033172" y="5385432"/>
                  <a:pt x="4034692" y="5444194"/>
                </a:cubicBezTo>
                <a:cubicBezTo>
                  <a:pt x="4035579" y="5481001"/>
                  <a:pt x="4022023" y="5518441"/>
                  <a:pt x="4013027" y="5555120"/>
                </a:cubicBezTo>
                <a:cubicBezTo>
                  <a:pt x="3996937" y="5621371"/>
                  <a:pt x="3991109" y="5688636"/>
                  <a:pt x="4013027" y="5753237"/>
                </a:cubicBezTo>
                <a:cubicBezTo>
                  <a:pt x="4043561" y="5842713"/>
                  <a:pt x="4061045" y="5932189"/>
                  <a:pt x="4048375" y="6026870"/>
                </a:cubicBezTo>
                <a:cubicBezTo>
                  <a:pt x="4041027" y="6085251"/>
                  <a:pt x="4039380" y="6144902"/>
                  <a:pt x="4028357" y="6202522"/>
                </a:cubicBezTo>
                <a:cubicBezTo>
                  <a:pt x="4010240" y="6298091"/>
                  <a:pt x="4016701" y="6393024"/>
                  <a:pt x="4031145" y="6487196"/>
                </a:cubicBezTo>
                <a:cubicBezTo>
                  <a:pt x="4041293" y="6565885"/>
                  <a:pt x="4042395" y="6645474"/>
                  <a:pt x="4034439" y="6724403"/>
                </a:cubicBezTo>
                <a:lnTo>
                  <a:pt x="402520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90722" y="2395728"/>
            <a:ext cx="3182691" cy="18288"/>
          </a:xfrm>
          <a:custGeom>
            <a:avLst/>
            <a:gdLst>
              <a:gd name="csX0" fmla="*/ 0 w 3182691"/>
              <a:gd name="csY0" fmla="*/ 0 h 18288"/>
              <a:gd name="csX1" fmla="*/ 636538 w 3182691"/>
              <a:gd name="csY1" fmla="*/ 0 h 18288"/>
              <a:gd name="csX2" fmla="*/ 1273076 w 3182691"/>
              <a:gd name="csY2" fmla="*/ 0 h 18288"/>
              <a:gd name="csX3" fmla="*/ 1909615 w 3182691"/>
              <a:gd name="csY3" fmla="*/ 0 h 18288"/>
              <a:gd name="csX4" fmla="*/ 2482499 w 3182691"/>
              <a:gd name="csY4" fmla="*/ 0 h 18288"/>
              <a:gd name="csX5" fmla="*/ 3182691 w 3182691"/>
              <a:gd name="csY5" fmla="*/ 0 h 18288"/>
              <a:gd name="csX6" fmla="*/ 3182691 w 3182691"/>
              <a:gd name="csY6" fmla="*/ 18288 h 18288"/>
              <a:gd name="csX7" fmla="*/ 2609807 w 3182691"/>
              <a:gd name="csY7" fmla="*/ 18288 h 18288"/>
              <a:gd name="csX8" fmla="*/ 2068749 w 3182691"/>
              <a:gd name="csY8" fmla="*/ 18288 h 18288"/>
              <a:gd name="csX9" fmla="*/ 1432211 w 3182691"/>
              <a:gd name="csY9" fmla="*/ 18288 h 18288"/>
              <a:gd name="csX10" fmla="*/ 859327 w 3182691"/>
              <a:gd name="csY10" fmla="*/ 18288 h 18288"/>
              <a:gd name="csX11" fmla="*/ 0 w 3182691"/>
              <a:gd name="csY11" fmla="*/ 18288 h 18288"/>
              <a:gd name="csX12" fmla="*/ 0 w 3182691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182691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13406" y="3458"/>
                  <a:pt x="1273076" y="0"/>
                </a:cubicBezTo>
                <a:cubicBezTo>
                  <a:pt x="1532746" y="-3458"/>
                  <a:pt x="1697408" y="-16840"/>
                  <a:pt x="1909615" y="0"/>
                </a:cubicBezTo>
                <a:cubicBezTo>
                  <a:pt x="2121822" y="16840"/>
                  <a:pt x="2213494" y="-18555"/>
                  <a:pt x="2482499" y="0"/>
                </a:cubicBezTo>
                <a:cubicBezTo>
                  <a:pt x="2751504" y="18555"/>
                  <a:pt x="3004132" y="-28750"/>
                  <a:pt x="3182691" y="0"/>
                </a:cubicBezTo>
                <a:cubicBezTo>
                  <a:pt x="3183133" y="4516"/>
                  <a:pt x="3181864" y="12266"/>
                  <a:pt x="3182691" y="18288"/>
                </a:cubicBezTo>
                <a:cubicBezTo>
                  <a:pt x="2947041" y="16687"/>
                  <a:pt x="2875741" y="22937"/>
                  <a:pt x="2609807" y="18288"/>
                </a:cubicBezTo>
                <a:cubicBezTo>
                  <a:pt x="2343873" y="13639"/>
                  <a:pt x="2331203" y="31729"/>
                  <a:pt x="2068749" y="18288"/>
                </a:cubicBezTo>
                <a:cubicBezTo>
                  <a:pt x="1806295" y="4847"/>
                  <a:pt x="1713773" y="47088"/>
                  <a:pt x="1432211" y="18288"/>
                </a:cubicBezTo>
                <a:cubicBezTo>
                  <a:pt x="1150649" y="-10512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1" h="18288" stroke="0" extrusionOk="0">
                <a:moveTo>
                  <a:pt x="0" y="0"/>
                </a:moveTo>
                <a:cubicBezTo>
                  <a:pt x="247695" y="-19360"/>
                  <a:pt x="392581" y="-28596"/>
                  <a:pt x="572884" y="0"/>
                </a:cubicBezTo>
                <a:cubicBezTo>
                  <a:pt x="753187" y="28596"/>
                  <a:pt x="922042" y="4121"/>
                  <a:pt x="1113942" y="0"/>
                </a:cubicBezTo>
                <a:cubicBezTo>
                  <a:pt x="1305842" y="-4121"/>
                  <a:pt x="1501806" y="28092"/>
                  <a:pt x="1686826" y="0"/>
                </a:cubicBezTo>
                <a:cubicBezTo>
                  <a:pt x="1871846" y="-28092"/>
                  <a:pt x="2170181" y="-20672"/>
                  <a:pt x="2323364" y="0"/>
                </a:cubicBezTo>
                <a:cubicBezTo>
                  <a:pt x="2476547" y="20672"/>
                  <a:pt x="2919163" y="6097"/>
                  <a:pt x="3182691" y="0"/>
                </a:cubicBezTo>
                <a:cubicBezTo>
                  <a:pt x="3183268" y="4624"/>
                  <a:pt x="3183510" y="11191"/>
                  <a:pt x="3182691" y="18288"/>
                </a:cubicBezTo>
                <a:cubicBezTo>
                  <a:pt x="3026064" y="-10849"/>
                  <a:pt x="2775005" y="23067"/>
                  <a:pt x="2546153" y="18288"/>
                </a:cubicBezTo>
                <a:cubicBezTo>
                  <a:pt x="2317301" y="13509"/>
                  <a:pt x="2164351" y="-9884"/>
                  <a:pt x="1845961" y="18288"/>
                </a:cubicBezTo>
                <a:cubicBezTo>
                  <a:pt x="1527571" y="46460"/>
                  <a:pt x="1455006" y="5824"/>
                  <a:pt x="1304903" y="18288"/>
                </a:cubicBezTo>
                <a:cubicBezTo>
                  <a:pt x="1154800" y="30752"/>
                  <a:pt x="942107" y="-12056"/>
                  <a:pt x="604711" y="18288"/>
                </a:cubicBezTo>
                <a:cubicBezTo>
                  <a:pt x="267315" y="48632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0722" y="2706624"/>
            <a:ext cx="5170932" cy="3483864"/>
          </a:xfrm>
        </p:spPr>
        <p:txBody>
          <a:bodyPr>
            <a:normAutofit/>
          </a:bodyPr>
          <a:lstStyle/>
          <a:p>
            <a:r>
              <a:rPr lang="en-IN" sz="1900"/>
              <a:t>Pipeline Steps:</a:t>
            </a:r>
          </a:p>
          <a:p>
            <a:pPr lvl="1"/>
            <a:r>
              <a:rPr lang="en-IN" sz="1900"/>
              <a:t>Database Inspections: Mapped SQLite database schemas.</a:t>
            </a:r>
          </a:p>
          <a:p>
            <a:pPr lvl="1"/>
            <a:r>
              <a:rPr lang="en-IN" sz="1900"/>
              <a:t>Summary Statistics: Explored distributions, pricing outliers, and volume skews.</a:t>
            </a:r>
          </a:p>
          <a:p>
            <a:pPr lvl="1"/>
            <a:r>
              <a:rPr lang="en-IN" sz="1900"/>
              <a:t>Data Scrubbing: Zero-filled missing values, cleaned standardized categorical text.</a:t>
            </a:r>
          </a:p>
          <a:p>
            <a:pPr lvl="1"/>
            <a:r>
              <a:rPr lang="en-IN" sz="1900"/>
              <a:t>Distribution Analysis: Matplotlib/Seaborn KDEs and histograms to analyze purchasing vs. sales trends.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27FF362-FC97-4BF5-949B-D4ADFA26E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888549">
            <a:off x="-794604" y="-1108988"/>
            <a:ext cx="5384871" cy="5226565"/>
          </a:xfrm>
          <a:custGeom>
            <a:avLst/>
            <a:gdLst>
              <a:gd name="connsiteX0" fmla="*/ 5217841 w 7179830"/>
              <a:gd name="connsiteY0" fmla="*/ 464824 h 5226565"/>
              <a:gd name="connsiteX1" fmla="*/ 5222490 w 7179830"/>
              <a:gd name="connsiteY1" fmla="*/ 464289 h 5226565"/>
              <a:gd name="connsiteX2" fmla="*/ 5216768 w 7179830"/>
              <a:gd name="connsiteY2" fmla="*/ 463394 h 5226565"/>
              <a:gd name="connsiteX3" fmla="*/ 5217841 w 7179830"/>
              <a:gd name="connsiteY3" fmla="*/ 464824 h 5226565"/>
              <a:gd name="connsiteX4" fmla="*/ 4945201 w 7179830"/>
              <a:gd name="connsiteY4" fmla="*/ 5226565 h 5226565"/>
              <a:gd name="connsiteX5" fmla="*/ 140449 w 7179830"/>
              <a:gd name="connsiteY5" fmla="*/ 2240811 h 5226565"/>
              <a:gd name="connsiteX6" fmla="*/ 232913 w 7179830"/>
              <a:gd name="connsiteY6" fmla="*/ 2052782 h 5226565"/>
              <a:gd name="connsiteX7" fmla="*/ 375714 w 7179830"/>
              <a:gd name="connsiteY7" fmla="*/ 1803205 h 5226565"/>
              <a:gd name="connsiteX8" fmla="*/ 1512756 w 7179830"/>
              <a:gd name="connsiteY8" fmla="*/ 638448 h 5226565"/>
              <a:gd name="connsiteX9" fmla="*/ 2902095 w 7179830"/>
              <a:gd name="connsiteY9" fmla="*/ 120440 h 5226565"/>
              <a:gd name="connsiteX10" fmla="*/ 2848453 w 7179830"/>
              <a:gd name="connsiteY10" fmla="*/ 125626 h 5226565"/>
              <a:gd name="connsiteX11" fmla="*/ 1837830 w 7179830"/>
              <a:gd name="connsiteY11" fmla="*/ 426203 h 5226565"/>
              <a:gd name="connsiteX12" fmla="*/ 214608 w 7179830"/>
              <a:gd name="connsiteY12" fmla="*/ 1882239 h 5226565"/>
              <a:gd name="connsiteX13" fmla="*/ 91317 w 7179830"/>
              <a:gd name="connsiteY13" fmla="*/ 2123701 h 5226565"/>
              <a:gd name="connsiteX14" fmla="*/ 64092 w 7179830"/>
              <a:gd name="connsiteY14" fmla="*/ 2193361 h 5226565"/>
              <a:gd name="connsiteX15" fmla="*/ 0 w 7179830"/>
              <a:gd name="connsiteY15" fmla="*/ 2153533 h 5226565"/>
              <a:gd name="connsiteX16" fmla="*/ 42834 w 7179830"/>
              <a:gd name="connsiteY16" fmla="*/ 2047277 h 5226565"/>
              <a:gd name="connsiteX17" fmla="*/ 923582 w 7179830"/>
              <a:gd name="connsiteY17" fmla="*/ 915600 h 5226565"/>
              <a:gd name="connsiteX18" fmla="*/ 2686989 w 7179830"/>
              <a:gd name="connsiteY18" fmla="*/ 73950 h 5226565"/>
              <a:gd name="connsiteX19" fmla="*/ 3059983 w 7179830"/>
              <a:gd name="connsiteY19" fmla="*/ 20308 h 5226565"/>
              <a:gd name="connsiteX20" fmla="*/ 3454435 w 7179830"/>
              <a:gd name="connsiteY20" fmla="*/ 1176 h 5226565"/>
              <a:gd name="connsiteX21" fmla="*/ 3923806 w 7179830"/>
              <a:gd name="connsiteY21" fmla="*/ 49990 h 5226565"/>
              <a:gd name="connsiteX22" fmla="*/ 5350874 w 7179830"/>
              <a:gd name="connsiteY22" fmla="*/ 426917 h 5226565"/>
              <a:gd name="connsiteX23" fmla="*/ 6607360 w 7179830"/>
              <a:gd name="connsiteY23" fmla="*/ 1075097 h 5226565"/>
              <a:gd name="connsiteX24" fmla="*/ 7110534 w 7179830"/>
              <a:gd name="connsiteY24" fmla="*/ 1541421 h 5226565"/>
              <a:gd name="connsiteX25" fmla="*/ 7179830 w 7179830"/>
              <a:gd name="connsiteY25" fmla="*/ 1630542 h 5226565"/>
              <a:gd name="connsiteX26" fmla="*/ 7136295 w 7179830"/>
              <a:gd name="connsiteY26" fmla="*/ 1700600 h 5226565"/>
              <a:gd name="connsiteX27" fmla="*/ 7131140 w 7179830"/>
              <a:gd name="connsiteY27" fmla="*/ 1693045 h 5226565"/>
              <a:gd name="connsiteX28" fmla="*/ 6577499 w 7179830"/>
              <a:gd name="connsiteY28" fmla="*/ 1148230 h 5226565"/>
              <a:gd name="connsiteX29" fmla="*/ 5494816 w 7179830"/>
              <a:gd name="connsiteY29" fmla="*/ 563527 h 5226565"/>
              <a:gd name="connsiteX30" fmla="*/ 5366967 w 7179830"/>
              <a:gd name="connsiteY30" fmla="*/ 514176 h 5226565"/>
              <a:gd name="connsiteX31" fmla="*/ 5244661 w 7179830"/>
              <a:gd name="connsiteY31" fmla="*/ 470725 h 5226565"/>
              <a:gd name="connsiteX32" fmla="*/ 5904822 w 7179830"/>
              <a:gd name="connsiteY32" fmla="*/ 815468 h 5226565"/>
              <a:gd name="connsiteX33" fmla="*/ 7015222 w 7179830"/>
              <a:gd name="connsiteY33" fmla="*/ 1815185 h 5226565"/>
              <a:gd name="connsiteX34" fmla="*/ 7040454 w 7179830"/>
              <a:gd name="connsiteY34" fmla="*/ 1854830 h 5226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7179830" h="5226565">
                <a:moveTo>
                  <a:pt x="5217841" y="464824"/>
                </a:moveTo>
                <a:lnTo>
                  <a:pt x="5222490" y="464289"/>
                </a:lnTo>
                <a:lnTo>
                  <a:pt x="5216768" y="463394"/>
                </a:lnTo>
                <a:cubicBezTo>
                  <a:pt x="5216768" y="463394"/>
                  <a:pt x="5216768" y="464646"/>
                  <a:pt x="5217841" y="464824"/>
                </a:cubicBezTo>
                <a:close/>
                <a:moveTo>
                  <a:pt x="4945201" y="5226565"/>
                </a:moveTo>
                <a:lnTo>
                  <a:pt x="140449" y="2240811"/>
                </a:lnTo>
                <a:lnTo>
                  <a:pt x="232913" y="2052782"/>
                </a:lnTo>
                <a:cubicBezTo>
                  <a:pt x="277693" y="1968290"/>
                  <a:pt x="325201" y="1885054"/>
                  <a:pt x="375714" y="1803205"/>
                </a:cubicBezTo>
                <a:cubicBezTo>
                  <a:pt x="667528" y="1329721"/>
                  <a:pt x="1039629" y="935091"/>
                  <a:pt x="1512756" y="638448"/>
                </a:cubicBezTo>
                <a:cubicBezTo>
                  <a:pt x="1939392" y="370950"/>
                  <a:pt x="2405724" y="210560"/>
                  <a:pt x="2902095" y="120440"/>
                </a:cubicBezTo>
                <a:cubicBezTo>
                  <a:pt x="2884054" y="118134"/>
                  <a:pt x="2865727" y="119904"/>
                  <a:pt x="2848453" y="125626"/>
                </a:cubicBezTo>
                <a:cubicBezTo>
                  <a:pt x="2498704" y="175943"/>
                  <a:pt x="2158217" y="277201"/>
                  <a:pt x="1837830" y="426203"/>
                </a:cubicBezTo>
                <a:cubicBezTo>
                  <a:pt x="1147094" y="744660"/>
                  <a:pt x="593502" y="1217071"/>
                  <a:pt x="214608" y="1882239"/>
                </a:cubicBezTo>
                <a:cubicBezTo>
                  <a:pt x="169441" y="1960776"/>
                  <a:pt x="128308" y="2041369"/>
                  <a:pt x="91317" y="2123701"/>
                </a:cubicBezTo>
                <a:lnTo>
                  <a:pt x="64092" y="2193361"/>
                </a:lnTo>
                <a:lnTo>
                  <a:pt x="0" y="2153533"/>
                </a:lnTo>
                <a:lnTo>
                  <a:pt x="42834" y="2047277"/>
                </a:lnTo>
                <a:cubicBezTo>
                  <a:pt x="241792" y="1615775"/>
                  <a:pt x="541268" y="1241591"/>
                  <a:pt x="923582" y="915600"/>
                </a:cubicBezTo>
                <a:cubicBezTo>
                  <a:pt x="1435331" y="478415"/>
                  <a:pt x="2028081" y="205375"/>
                  <a:pt x="2686989" y="73950"/>
                </a:cubicBezTo>
                <a:cubicBezTo>
                  <a:pt x="2810367" y="49274"/>
                  <a:pt x="2934818" y="32466"/>
                  <a:pt x="3059983" y="20308"/>
                </a:cubicBezTo>
                <a:cubicBezTo>
                  <a:pt x="3185149" y="8148"/>
                  <a:pt x="3308706" y="2963"/>
                  <a:pt x="3454435" y="1176"/>
                </a:cubicBezTo>
                <a:cubicBezTo>
                  <a:pt x="3599805" y="-5977"/>
                  <a:pt x="3761985" y="20665"/>
                  <a:pt x="3923806" y="49990"/>
                </a:cubicBezTo>
                <a:cubicBezTo>
                  <a:pt x="4409449" y="137964"/>
                  <a:pt x="4886867" y="257228"/>
                  <a:pt x="5350874" y="426917"/>
                </a:cubicBezTo>
                <a:cubicBezTo>
                  <a:pt x="5797001" y="589991"/>
                  <a:pt x="6223101" y="792223"/>
                  <a:pt x="6607360" y="1075097"/>
                </a:cubicBezTo>
                <a:cubicBezTo>
                  <a:pt x="6794438" y="1212779"/>
                  <a:pt x="6965102" y="1365689"/>
                  <a:pt x="7110534" y="1541421"/>
                </a:cubicBezTo>
                <a:lnTo>
                  <a:pt x="7179830" y="1630542"/>
                </a:lnTo>
                <a:lnTo>
                  <a:pt x="7136295" y="1700600"/>
                </a:lnTo>
                <a:lnTo>
                  <a:pt x="7131140" y="1693045"/>
                </a:lnTo>
                <a:cubicBezTo>
                  <a:pt x="6977874" y="1483026"/>
                  <a:pt x="6788448" y="1305671"/>
                  <a:pt x="6577499" y="1148230"/>
                </a:cubicBezTo>
                <a:cubicBezTo>
                  <a:pt x="6245452" y="900401"/>
                  <a:pt x="5878538" y="716408"/>
                  <a:pt x="5494816" y="563527"/>
                </a:cubicBezTo>
                <a:cubicBezTo>
                  <a:pt x="5452491" y="546487"/>
                  <a:pt x="5409881" y="530036"/>
                  <a:pt x="5366967" y="514176"/>
                </a:cubicBezTo>
                <a:cubicBezTo>
                  <a:pt x="5326377" y="499156"/>
                  <a:pt x="5285430" y="485210"/>
                  <a:pt x="5244661" y="470725"/>
                </a:cubicBezTo>
                <a:cubicBezTo>
                  <a:pt x="5471517" y="572127"/>
                  <a:pt x="5691970" y="687263"/>
                  <a:pt x="5904822" y="815468"/>
                </a:cubicBezTo>
                <a:cubicBezTo>
                  <a:pt x="6336645" y="1080104"/>
                  <a:pt x="6718758" y="1400351"/>
                  <a:pt x="7015222" y="1815185"/>
                </a:cubicBezTo>
                <a:lnTo>
                  <a:pt x="7040454" y="185483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4" y="673770"/>
            <a:ext cx="2733367" cy="2414488"/>
          </a:xfrm>
        </p:spPr>
        <p:txBody>
          <a:bodyPr anchor="t">
            <a:normAutofit/>
          </a:bodyPr>
          <a:lstStyle/>
          <a:p>
            <a:endParaRPr lang="en-IN" sz="470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9" y="882315"/>
            <a:ext cx="3941065" cy="5294647"/>
          </a:xfrm>
        </p:spPr>
        <p:txBody>
          <a:bodyPr>
            <a:normAutofit/>
          </a:bodyPr>
          <a:lstStyle/>
          <a:p>
            <a:r>
              <a:rPr lang="en-US" sz="1900"/>
              <a:t>Problem: Large 1.5GB+ sales.csv caused MemoryExhaustion (out of memory errors).</a:t>
            </a:r>
          </a:p>
          <a:p>
            <a:pPr lvl="1"/>
            <a:r>
              <a:rPr lang="en-US" sz="1900"/>
              <a:t>Solution (V1): Restructured pipeline with Pandas chunking (chunksize=100,000).</a:t>
            </a:r>
          </a:p>
          <a:p>
            <a:pPr lvl="1"/>
            <a:r>
              <a:rPr lang="en-US" sz="1900"/>
              <a:t>Data was incrementally appended to a robust SQLite Database.</a:t>
            </a:r>
          </a:p>
          <a:p>
            <a:pPr lvl="1"/>
            <a:r>
              <a:rPr lang="en-US" sz="1900"/>
              <a:t>Solution (V2 - Optimized): Refactored dynamically to use Polars for multithreaded fast ingestion, drastically lowering runtime.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3321" y="329184"/>
            <a:ext cx="4688333" cy="1783080"/>
          </a:xfrm>
        </p:spPr>
        <p:txBody>
          <a:bodyPr anchor="b">
            <a:normAutofit/>
          </a:bodyPr>
          <a:lstStyle/>
          <a:p>
            <a:endParaRPr lang="en-IN" sz="4700"/>
          </a:p>
        </p:txBody>
      </p:sp>
      <p:pic>
        <p:nvPicPr>
          <p:cNvPr id="5" name="Picture 4" descr="Top view of cubes connected with black lines">
            <a:extLst>
              <a:ext uri="{FF2B5EF4-FFF2-40B4-BE49-F238E27FC236}">
                <a16:creationId xmlns:a16="http://schemas.microsoft.com/office/drawing/2014/main" id="{F589C721-1E3E-D344-D433-67E7BD22F4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861" r="25939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3321" y="2374947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36538 w 3182692"/>
              <a:gd name="csY1" fmla="*/ 0 h 18288"/>
              <a:gd name="csX2" fmla="*/ 1273077 w 3182692"/>
              <a:gd name="csY2" fmla="*/ 0 h 18288"/>
              <a:gd name="csX3" fmla="*/ 1909615 w 3182692"/>
              <a:gd name="csY3" fmla="*/ 0 h 18288"/>
              <a:gd name="csX4" fmla="*/ 2482500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609807 w 3182692"/>
              <a:gd name="csY7" fmla="*/ 18288 h 18288"/>
              <a:gd name="csX8" fmla="*/ 2068750 w 3182692"/>
              <a:gd name="csY8" fmla="*/ 18288 h 18288"/>
              <a:gd name="csX9" fmla="*/ 1432211 w 3182692"/>
              <a:gd name="csY9" fmla="*/ 18288 h 18288"/>
              <a:gd name="csX10" fmla="*/ 859327 w 3182692"/>
              <a:gd name="csY10" fmla="*/ 18288 h 18288"/>
              <a:gd name="csX11" fmla="*/ 0 w 3182692"/>
              <a:gd name="csY11" fmla="*/ 18288 h 18288"/>
              <a:gd name="csX12" fmla="*/ 0 w 3182692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07727" y="-28"/>
                  <a:pt x="1273077" y="0"/>
                </a:cubicBezTo>
                <a:cubicBezTo>
                  <a:pt x="1538427" y="28"/>
                  <a:pt x="1698640" y="-12775"/>
                  <a:pt x="1909615" y="0"/>
                </a:cubicBezTo>
                <a:cubicBezTo>
                  <a:pt x="2120590" y="12775"/>
                  <a:pt x="2210293" y="-21823"/>
                  <a:pt x="2482500" y="0"/>
                </a:cubicBezTo>
                <a:cubicBezTo>
                  <a:pt x="2754708" y="21823"/>
                  <a:pt x="3004133" y="-28750"/>
                  <a:pt x="3182692" y="0"/>
                </a:cubicBezTo>
                <a:cubicBezTo>
                  <a:pt x="3183134" y="4516"/>
                  <a:pt x="3181865" y="12266"/>
                  <a:pt x="3182692" y="18288"/>
                </a:cubicBezTo>
                <a:cubicBezTo>
                  <a:pt x="2947402" y="22440"/>
                  <a:pt x="2876226" y="27191"/>
                  <a:pt x="2609807" y="18288"/>
                </a:cubicBezTo>
                <a:cubicBezTo>
                  <a:pt x="2343389" y="9385"/>
                  <a:pt x="2326689" y="25579"/>
                  <a:pt x="2068750" y="18288"/>
                </a:cubicBezTo>
                <a:cubicBezTo>
                  <a:pt x="1810811" y="10997"/>
                  <a:pt x="1713836" y="48219"/>
                  <a:pt x="1432211" y="18288"/>
                </a:cubicBezTo>
                <a:cubicBezTo>
                  <a:pt x="1150586" y="-11643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43108" y="-22426"/>
                  <a:pt x="387854" y="22949"/>
                  <a:pt x="572885" y="0"/>
                </a:cubicBezTo>
                <a:cubicBezTo>
                  <a:pt x="757916" y="-22949"/>
                  <a:pt x="923707" y="6797"/>
                  <a:pt x="1113942" y="0"/>
                </a:cubicBezTo>
                <a:cubicBezTo>
                  <a:pt x="1304177" y="-6797"/>
                  <a:pt x="1495991" y="20627"/>
                  <a:pt x="1686827" y="0"/>
                </a:cubicBezTo>
                <a:cubicBezTo>
                  <a:pt x="1877663" y="-20627"/>
                  <a:pt x="2170182" y="-20672"/>
                  <a:pt x="2323365" y="0"/>
                </a:cubicBezTo>
                <a:cubicBezTo>
                  <a:pt x="2476548" y="20672"/>
                  <a:pt x="2919164" y="6097"/>
                  <a:pt x="3182692" y="0"/>
                </a:cubicBezTo>
                <a:cubicBezTo>
                  <a:pt x="3183269" y="4624"/>
                  <a:pt x="3183511" y="11191"/>
                  <a:pt x="3182692" y="18288"/>
                </a:cubicBezTo>
                <a:cubicBezTo>
                  <a:pt x="3026065" y="-10849"/>
                  <a:pt x="2775006" y="23067"/>
                  <a:pt x="2546154" y="18288"/>
                </a:cubicBezTo>
                <a:cubicBezTo>
                  <a:pt x="2317302" y="13509"/>
                  <a:pt x="2168173" y="-8513"/>
                  <a:pt x="1845961" y="18288"/>
                </a:cubicBezTo>
                <a:cubicBezTo>
                  <a:pt x="1523749" y="45089"/>
                  <a:pt x="1450078" y="-844"/>
                  <a:pt x="1304904" y="18288"/>
                </a:cubicBezTo>
                <a:cubicBezTo>
                  <a:pt x="1159730" y="37420"/>
                  <a:pt x="942635" y="-10021"/>
                  <a:pt x="604711" y="18288"/>
                </a:cubicBezTo>
                <a:cubicBezTo>
                  <a:pt x="266787" y="46597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3321" y="2706624"/>
            <a:ext cx="4688333" cy="348386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1900"/>
              <a:t>Problem: Crafting error-prone complex SQL CTEs across 5 massive database tables.</a:t>
            </a:r>
          </a:p>
          <a:p>
            <a:pPr lvl="1">
              <a:lnSpc>
                <a:spcPct val="90000"/>
              </a:lnSpc>
            </a:pPr>
            <a:r>
              <a:rPr lang="en-IN" sz="1900"/>
              <a:t>Solution: AI (Antigravity/Gemini) Pair-Programming was used to:</a:t>
            </a:r>
          </a:p>
          <a:p>
            <a:pPr lvl="1">
              <a:lnSpc>
                <a:spcPct val="90000"/>
              </a:lnSpc>
            </a:pPr>
            <a:r>
              <a:rPr lang="en-IN" sz="1900"/>
              <a:t>- Generate the advanced unified data merging script.</a:t>
            </a:r>
          </a:p>
          <a:p>
            <a:pPr lvl="1">
              <a:lnSpc>
                <a:spcPct val="90000"/>
              </a:lnSpc>
            </a:pPr>
            <a:r>
              <a:rPr lang="en-IN" sz="1900"/>
              <a:t>- Map memory-efficient Python datatypes.</a:t>
            </a:r>
          </a:p>
          <a:p>
            <a:pPr lvl="1">
              <a:lnSpc>
                <a:spcPct val="90000"/>
              </a:lnSpc>
            </a:pPr>
            <a:r>
              <a:rPr lang="en-IN" sz="1900"/>
              <a:t>- Aggregate Sales, Freight, and Purchases accurately at the Vendor scope.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3321" y="329184"/>
            <a:ext cx="4688333" cy="1783080"/>
          </a:xfrm>
        </p:spPr>
        <p:txBody>
          <a:bodyPr anchor="b">
            <a:normAutofit/>
          </a:bodyPr>
          <a:lstStyle/>
          <a:p>
            <a:endParaRPr lang="en-IN" sz="4700"/>
          </a:p>
        </p:txBody>
      </p:sp>
      <p:pic>
        <p:nvPicPr>
          <p:cNvPr id="5" name="Picture 4" descr="Magazine printing process">
            <a:extLst>
              <a:ext uri="{FF2B5EF4-FFF2-40B4-BE49-F238E27FC236}">
                <a16:creationId xmlns:a16="http://schemas.microsoft.com/office/drawing/2014/main" id="{90333B9B-B865-5B54-5748-0593DFE9DD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130" r="22835" b="-1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3321" y="2374947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36538 w 3182692"/>
              <a:gd name="csY1" fmla="*/ 0 h 18288"/>
              <a:gd name="csX2" fmla="*/ 1273077 w 3182692"/>
              <a:gd name="csY2" fmla="*/ 0 h 18288"/>
              <a:gd name="csX3" fmla="*/ 1909615 w 3182692"/>
              <a:gd name="csY3" fmla="*/ 0 h 18288"/>
              <a:gd name="csX4" fmla="*/ 2482500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609807 w 3182692"/>
              <a:gd name="csY7" fmla="*/ 18288 h 18288"/>
              <a:gd name="csX8" fmla="*/ 2068750 w 3182692"/>
              <a:gd name="csY8" fmla="*/ 18288 h 18288"/>
              <a:gd name="csX9" fmla="*/ 1432211 w 3182692"/>
              <a:gd name="csY9" fmla="*/ 18288 h 18288"/>
              <a:gd name="csX10" fmla="*/ 859327 w 3182692"/>
              <a:gd name="csY10" fmla="*/ 18288 h 18288"/>
              <a:gd name="csX11" fmla="*/ 0 w 3182692"/>
              <a:gd name="csY11" fmla="*/ 18288 h 18288"/>
              <a:gd name="csX12" fmla="*/ 0 w 3182692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07727" y="-28"/>
                  <a:pt x="1273077" y="0"/>
                </a:cubicBezTo>
                <a:cubicBezTo>
                  <a:pt x="1538427" y="28"/>
                  <a:pt x="1698640" y="-12775"/>
                  <a:pt x="1909615" y="0"/>
                </a:cubicBezTo>
                <a:cubicBezTo>
                  <a:pt x="2120590" y="12775"/>
                  <a:pt x="2210293" y="-21823"/>
                  <a:pt x="2482500" y="0"/>
                </a:cubicBezTo>
                <a:cubicBezTo>
                  <a:pt x="2754708" y="21823"/>
                  <a:pt x="3004133" y="-28750"/>
                  <a:pt x="3182692" y="0"/>
                </a:cubicBezTo>
                <a:cubicBezTo>
                  <a:pt x="3183134" y="4516"/>
                  <a:pt x="3181865" y="12266"/>
                  <a:pt x="3182692" y="18288"/>
                </a:cubicBezTo>
                <a:cubicBezTo>
                  <a:pt x="2947402" y="22440"/>
                  <a:pt x="2876226" y="27191"/>
                  <a:pt x="2609807" y="18288"/>
                </a:cubicBezTo>
                <a:cubicBezTo>
                  <a:pt x="2343389" y="9385"/>
                  <a:pt x="2326689" y="25579"/>
                  <a:pt x="2068750" y="18288"/>
                </a:cubicBezTo>
                <a:cubicBezTo>
                  <a:pt x="1810811" y="10997"/>
                  <a:pt x="1713836" y="48219"/>
                  <a:pt x="1432211" y="18288"/>
                </a:cubicBezTo>
                <a:cubicBezTo>
                  <a:pt x="1150586" y="-11643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43108" y="-22426"/>
                  <a:pt x="387854" y="22949"/>
                  <a:pt x="572885" y="0"/>
                </a:cubicBezTo>
                <a:cubicBezTo>
                  <a:pt x="757916" y="-22949"/>
                  <a:pt x="923707" y="6797"/>
                  <a:pt x="1113942" y="0"/>
                </a:cubicBezTo>
                <a:cubicBezTo>
                  <a:pt x="1304177" y="-6797"/>
                  <a:pt x="1495991" y="20627"/>
                  <a:pt x="1686827" y="0"/>
                </a:cubicBezTo>
                <a:cubicBezTo>
                  <a:pt x="1877663" y="-20627"/>
                  <a:pt x="2170182" y="-20672"/>
                  <a:pt x="2323365" y="0"/>
                </a:cubicBezTo>
                <a:cubicBezTo>
                  <a:pt x="2476548" y="20672"/>
                  <a:pt x="2919164" y="6097"/>
                  <a:pt x="3182692" y="0"/>
                </a:cubicBezTo>
                <a:cubicBezTo>
                  <a:pt x="3183269" y="4624"/>
                  <a:pt x="3183511" y="11191"/>
                  <a:pt x="3182692" y="18288"/>
                </a:cubicBezTo>
                <a:cubicBezTo>
                  <a:pt x="3026065" y="-10849"/>
                  <a:pt x="2775006" y="23067"/>
                  <a:pt x="2546154" y="18288"/>
                </a:cubicBezTo>
                <a:cubicBezTo>
                  <a:pt x="2317302" y="13509"/>
                  <a:pt x="2168173" y="-8513"/>
                  <a:pt x="1845961" y="18288"/>
                </a:cubicBezTo>
                <a:cubicBezTo>
                  <a:pt x="1523749" y="45089"/>
                  <a:pt x="1450078" y="-844"/>
                  <a:pt x="1304904" y="18288"/>
                </a:cubicBezTo>
                <a:cubicBezTo>
                  <a:pt x="1159730" y="37420"/>
                  <a:pt x="942635" y="-10021"/>
                  <a:pt x="604711" y="18288"/>
                </a:cubicBezTo>
                <a:cubicBezTo>
                  <a:pt x="266787" y="46597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3321" y="2706624"/>
            <a:ext cx="4688333" cy="3483864"/>
          </a:xfrm>
        </p:spPr>
        <p:txBody>
          <a:bodyPr>
            <a:normAutofit/>
          </a:bodyPr>
          <a:lstStyle/>
          <a:p>
            <a:r>
              <a:rPr lang="en-IN" sz="1900"/>
              <a:t>Final Deliverable: Vendor_Performance_Analysis.pbix</a:t>
            </a:r>
          </a:p>
          <a:p>
            <a:pPr lvl="1"/>
            <a:r>
              <a:rPr lang="en-IN" sz="1900"/>
              <a:t>Interactive Filtering: Dynamic slicing by Brand, Vendor, or Volume.</a:t>
            </a:r>
          </a:p>
          <a:p>
            <a:pPr lvl="1"/>
            <a:r>
              <a:rPr lang="en-IN" sz="1900"/>
              <a:t>Top Vendor Matrices: Actionable views of profit margins counterbalanced against shipping overheads.</a:t>
            </a:r>
          </a:p>
          <a:p>
            <a:pPr lvl="1"/>
            <a:r>
              <a:rPr lang="en-IN" sz="1900"/>
              <a:t>Result: Converted multi-gigabyte files into crisp, high-level intelligence for stakeholder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354</Words>
  <Application>Microsoft Office PowerPoint</Application>
  <PresentationFormat>On-screen Show (4:3)</PresentationFormat>
  <Paragraphs>32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Vendor Performance Analysis</vt:lpstr>
      <vt:lpstr>Output: Power BI Dashboards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Ashwin Talapalli</cp:lastModifiedBy>
  <cp:revision>2</cp:revision>
  <dcterms:created xsi:type="dcterms:W3CDTF">2013-01-27T09:14:16Z</dcterms:created>
  <dcterms:modified xsi:type="dcterms:W3CDTF">2026-04-19T10:08:40Z</dcterms:modified>
  <cp:category/>
</cp:coreProperties>
</file>